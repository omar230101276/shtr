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mohamed abd elghany elsipaay" userId="f319796d-0cf6-4ae3-a7e1-4f13ddc332c2" providerId="ADAL" clId="{07CC5306-2E2A-41E6-8A81-756FE8D29F1D}"/>
    <pc:docChg chg="custSel delSld modSld">
      <pc:chgData name="omar mohamed abd elghany elsipaay" userId="f319796d-0cf6-4ae3-a7e1-4f13ddc332c2" providerId="ADAL" clId="{07CC5306-2E2A-41E6-8A81-756FE8D29F1D}" dt="2026-08-15T09:36:25.992" v="2" actId="1076"/>
      <pc:docMkLst>
        <pc:docMk/>
      </pc:docMkLst>
      <pc:sldChg chg="del">
        <pc:chgData name="omar mohamed abd elghany elsipaay" userId="f319796d-0cf6-4ae3-a7e1-4f13ddc332c2" providerId="ADAL" clId="{07CC5306-2E2A-41E6-8A81-756FE8D29F1D}" dt="2026-08-15T09:35:02.101" v="0" actId="47"/>
        <pc:sldMkLst>
          <pc:docMk/>
          <pc:sldMk cId="0" sldId="260"/>
        </pc:sldMkLst>
      </pc:sldChg>
      <pc:sldChg chg="delSp modSp mod">
        <pc:chgData name="omar mohamed abd elghany elsipaay" userId="f319796d-0cf6-4ae3-a7e1-4f13ddc332c2" providerId="ADAL" clId="{07CC5306-2E2A-41E6-8A81-756FE8D29F1D}" dt="2026-08-15T09:36:25.992" v="2" actId="1076"/>
        <pc:sldMkLst>
          <pc:docMk/>
          <pc:sldMk cId="0" sldId="262"/>
        </pc:sldMkLst>
        <pc:spChg chg="del">
          <ac:chgData name="omar mohamed abd elghany elsipaay" userId="f319796d-0cf6-4ae3-a7e1-4f13ddc332c2" providerId="ADAL" clId="{07CC5306-2E2A-41E6-8A81-756FE8D29F1D}" dt="2026-08-15T09:36:12.979" v="1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omar mohamed abd elghany elsipaay" userId="f319796d-0cf6-4ae3-a7e1-4f13ddc332c2" providerId="ADAL" clId="{07CC5306-2E2A-41E6-8A81-756FE8D29F1D}" dt="2026-08-15T09:36:25.992" v="2" actId="1076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1072591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457200" rtlCol="0" anchor="ctr"/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Smart Heritage Tourism Recommender</a:t>
            </a:r>
          </a:p>
          <a:p>
            <a:pPr>
              <a:spcAft>
                <a:spcPts val="3600"/>
              </a:spcAft>
              <a:defRPr sz="1600">
                <a:solidFill>
                  <a:srgbClr val="38BDF8"/>
                </a:solidFill>
                <a:latin typeface="Segoe UI"/>
              </a:defRPr>
            </a:pPr>
            <a:r>
              <a:t>AI-Powered Multi-Constraint Recommendation System for Cairo &amp; Giza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</a:rPr>
              <a:t>Course: </a:t>
            </a:r>
            <a:r>
              <a:rPr sz="1200">
                <a:solidFill>
                  <a:srgbClr val="FFFFFF"/>
                </a:solidFill>
              </a:rPr>
              <a:t>CET 251 – Artificial Intelligence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</a:rPr>
              <a:t>Project ID: </a:t>
            </a:r>
            <a:r>
              <a:rPr sz="1200">
                <a:solidFill>
                  <a:srgbClr val="FFFFFF"/>
                </a:solidFill>
              </a:rPr>
              <a:t>D4 (Academic Year 2026)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</a:rPr>
              <a:t>Instructor: </a:t>
            </a:r>
            <a:r>
              <a:rPr sz="1200">
                <a:solidFill>
                  <a:srgbClr val="FFFFFF"/>
                </a:solidFill>
              </a:rPr>
              <a:t>Dr. Mohamed Aly Saleh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</a:rPr>
              <a:t>Team Members: </a:t>
            </a:r>
            <a:r>
              <a:rPr sz="1200">
                <a:solidFill>
                  <a:srgbClr val="FFFFFF"/>
                </a:solidFill>
              </a:rPr>
              <a:t>Reyad Hamdy (240103466) | Omar Abdelghany (230101276) | Kirellos Samir (230102253)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Definition &amp; Academic Motivation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Harmonizing User Preferences with Hard Real-World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Tourism Challenge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FFFFFF"/>
                </a:solidFill>
              </a:rPr>
              <a:t>• Information Overload: </a:t>
            </a:r>
            <a:r>
              <a:rPr sz="1100">
                <a:solidFill>
                  <a:srgbClr val="94A3B8"/>
                </a:solidFill>
              </a:rPr>
              <a:t>Cairo &amp; Giza feature hundreds of heritage landmarks spanning 5,000+ years of history.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FFFFFF"/>
                </a:solidFill>
              </a:rPr>
              <a:t>• Conflicting Constraints: </a:t>
            </a:r>
            <a:r>
              <a:rPr sz="1100">
                <a:solidFill>
                  <a:srgbClr val="94A3B8"/>
                </a:solidFill>
              </a:rPr>
              <a:t>Visitors operate under strict budgets, limited travel hours, mobility requirements, and operating windows.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FFFFFF"/>
                </a:solidFill>
              </a:rPr>
              <a:t>• Manual Planning Friction: </a:t>
            </a:r>
            <a:r>
              <a:rPr sz="1100">
                <a:solidFill>
                  <a:srgbClr val="94A3B8"/>
                </a:solidFill>
              </a:rPr>
              <a:t>Standard search engines fail to combine hard filtering with content-based interest similarity.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SHTR Solution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34D399"/>
                </a:solidFill>
              </a:rPr>
              <a:t>• Constraint Engine (CSP): </a:t>
            </a:r>
            <a:r>
              <a:rPr sz="1100">
                <a:solidFill>
                  <a:srgbClr val="94A3B8"/>
                </a:solidFill>
              </a:rPr>
              <a:t>Strict hard filtering ensures 0% rule violations for budget, time, location, and accessibility.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34D399"/>
                </a:solidFill>
              </a:rPr>
              <a:t>• AI Matching Engine: </a:t>
            </a:r>
            <a:r>
              <a:rPr sz="1100">
                <a:solidFill>
                  <a:srgbClr val="94A3B8"/>
                </a:solidFill>
              </a:rPr>
              <a:t>TF-IDF Vectorization &amp; Cosine Similarity match visitor interest keywords with attraction tags.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34D399"/>
                </a:solidFill>
              </a:rPr>
              <a:t>• Category Diversity: </a:t>
            </a:r>
            <a:r>
              <a:rPr sz="1100">
                <a:solidFill>
                  <a:srgbClr val="94A3B8"/>
                </a:solidFill>
              </a:rPr>
              <a:t>Enforces category deduplication to deliver top 3 diverse, high-quality recommendations.</a:t>
            </a:r>
          </a:p>
          <a:p>
            <a:pPr>
              <a:spcAft>
                <a:spcPts val="1200"/>
              </a:spcAft>
            </a:pPr>
            <a:r>
              <a:rPr b="1">
                <a:solidFill>
                  <a:srgbClr val="34D399"/>
                </a:solidFill>
              </a:rPr>
              <a:t>• Cold-Start Fallback: </a:t>
            </a:r>
            <a:r>
              <a:rPr sz="1100">
                <a:solidFill>
                  <a:srgbClr val="94A3B8"/>
                </a:solidFill>
              </a:rPr>
              <a:t>Popularity baseline model provides instant defaults for visitors without specified tags.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Curated Dataset Architecture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40 Heritage Sites Across Cairo &amp; Giza Standardized into 10 Core Fields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40 Attractions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Curated landmarks across Cairo &amp; Giza aggregated from Ministry of Tourism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7 Categories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Pharaonic, Islamic, Coptic, Modern, Nature, Culture, Jewish.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Constraint Fields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Location, Budget Tier, Estimated Hours, Opening Window, Accessibility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Textual Tags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Space-separated keywords enabling high-dimensional TF-IDF vector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 Formulation &amp; Dual Engine Architecture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Combining Hard Constraint Satisfaction (CSP) with Soft Vector Space Modeling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1: Hard Constraint Engine (CSP)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Boolean Constraint Masking: </a:t>
            </a:r>
            <a:r>
              <a:rPr sz="1050">
                <a:solidFill>
                  <a:srgbClr val="94A3B8"/>
                </a:solidFill>
              </a:rPr>
              <a:t>Filters items before recommendation scoring to guarantee 100% compliance.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Location Filter: </a:t>
            </a:r>
            <a:r>
              <a:rPr sz="1050">
                <a:solidFill>
                  <a:srgbClr val="94A3B8"/>
                </a:solidFill>
              </a:rPr>
              <a:t>Matches selected region (Cairo / Giza / All).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Budget Enforcer: </a:t>
            </a:r>
            <a:r>
              <a:rPr sz="1050">
                <a:solidFill>
                  <a:srgbClr val="94A3B8"/>
                </a:solidFill>
              </a:rPr>
              <a:t>Enforces max budget threshold (Low &lt;= 1, Medium &lt;= 2, High &lt;= 3).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Duration &amp; Period: </a:t>
            </a:r>
            <a:r>
              <a:rPr sz="1050">
                <a:solidFill>
                  <a:srgbClr val="94A3B8"/>
                </a:solidFill>
              </a:rPr>
              <a:t>Verifies visit duration &lt;= available hours and opening window (Morning/Evening/Full Day).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Wheelchair Access: </a:t>
            </a:r>
            <a:r>
              <a:rPr sz="1050">
                <a:solidFill>
                  <a:srgbClr val="94A3B8"/>
                </a:solidFill>
              </a:rPr>
              <a:t>Strictly filters wheelchair accessible sites if flagged.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Layer 2: TF-IDF + Cosine Similarity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Query Vectorization: </a:t>
            </a:r>
            <a:r>
              <a:rPr sz="1050">
                <a:solidFill>
                  <a:srgbClr val="94A3B8"/>
                </a:solidFill>
              </a:rPr>
              <a:t>Transforms user multiselect interest tags into TF-IDF vector space.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Item Feature Representation: </a:t>
            </a:r>
            <a:r>
              <a:rPr sz="1050">
                <a:solidFill>
                  <a:srgbClr val="94A3B8"/>
                </a:solidFill>
              </a:rPr>
              <a:t>Attraction descriptive keywords mapped into high-dimensional space.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Cosine Similarity Scoring: </a:t>
            </a:r>
            <a:r>
              <a:rPr sz="1050">
                <a:solidFill>
                  <a:srgbClr val="94A3B8"/>
                </a:solidFill>
              </a:rPr>
              <a:t>Computes vector angle similarity S in [0, 1].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Category Diversity Rule: </a:t>
            </a:r>
            <a:r>
              <a:rPr sz="1050">
                <a:solidFill>
                  <a:srgbClr val="94A3B8"/>
                </a:solidFill>
              </a:rPr>
              <a:t>Deduplicates categories to pick Top 3 diverse recommendations.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Cold-Start Fallback: </a:t>
            </a:r>
            <a:r>
              <a:rPr sz="1050">
                <a:solidFill>
                  <a:srgbClr val="94A3B8"/>
                </a:solidFill>
              </a:rPr>
              <a:t>Routes empty tag queries to popularity-ranked baseline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Operational Workflow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4-Phase Architectural Pipeline from Data Ingestion to UI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Phase 1: Data &amp; Input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1. Load CSV (40 records)</a:t>
            </a:r>
            <a:br/>
            <a:r>
              <a:t>2. Read UI sidebar filters &amp; interest tags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Phase 2: CSP Engine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3. Apply hard constraint filters</a:t>
            </a:r>
            <a:br/>
            <a:r>
              <a:t>4. Empty result check &amp; warning</a:t>
            </a:r>
            <a:br/>
            <a:r>
              <a:t>5. Route cold-start queries to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Phase 3: TF-IDF Model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6. Load tfidf_vectorizer.joblib</a:t>
            </a:r>
            <a:br/>
            <a:r>
              <a:t>7. Compute Cosine Similarity matrix</a:t>
            </a:r>
            <a:br/>
            <a:r>
              <a:t>8. Sort candidate places descending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Phase 4: Diversity &amp; UI</a:t>
            </a:r>
          </a:p>
          <a:p>
            <a:pPr>
              <a:spcBef>
                <a:spcPts val="1000"/>
              </a:spcBef>
              <a:defRPr sz="1050">
                <a:solidFill>
                  <a:srgbClr val="FFFFFF"/>
                </a:solidFill>
              </a:defRPr>
            </a:pPr>
            <a:r>
              <a:t>9. Deduplicate categories (Top 3)</a:t>
            </a:r>
            <a:br/>
            <a:r>
              <a:t>10. Display Top 3, baseline &amp; 100% Filter Match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Software Engineering &amp; Modular Architecture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Clean Python Package Structure with Persistent Model Artifacts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src/data_processing.py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Data loading &amp; hard constraint CSP boolean filters.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src/model.py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TF-IDF vectorizer model &amp; popularity baseline generator.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src/evaluation.py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Live Filter Match Rate metric calculation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01752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src/train.py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Offline training script exporting tfidf_vectorizer.joblib.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7100" y="4572000"/>
            <a:ext cx="5257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notebooks/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7-step lab pipeline Jupyter notebook demonstrating model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Quantitative Evaluation &amp; Test Scenarios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100.0% Filter Match Rate (FMR) Achieved Across All Persona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5912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Filter Match Rate Metric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FMR = ( Recommended items satisfying active hard filters / Total recommendations ) × 100%   --&gt;   Target: 100.0% | Result: 100.0%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72591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Observed Persona Results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History &amp; Museum Persona: </a:t>
            </a:r>
            <a:r>
              <a:rPr>
                <a:solidFill>
                  <a:srgbClr val="38BDF8"/>
                </a:solidFill>
              </a:rPr>
              <a:t>Abdeen Palace Museum (40.1% similarity) | FMR: 100.0%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Culture &amp; Architecture Persona: </a:t>
            </a:r>
            <a:r>
              <a:rPr>
                <a:solidFill>
                  <a:srgbClr val="38BDF8"/>
                </a:solidFill>
              </a:rPr>
              <a:t>Sultan Hassan Mosque (25.4% similarity) | FMR: 100.0%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Giza Exploration Persona: </a:t>
            </a:r>
            <a:r>
              <a:rPr>
                <a:solidFill>
                  <a:srgbClr val="38BDF8"/>
                </a:solidFill>
              </a:rPr>
              <a:t>Memphis Open-Air Museum (27.0% similarity) | FMR: 100.0%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FFFFFF"/>
                </a:solidFill>
              </a:rPr>
              <a:t>• Nature &amp; Relaxation Persona: </a:t>
            </a:r>
            <a:r>
              <a:rPr>
                <a:solidFill>
                  <a:srgbClr val="38BDF8"/>
                </a:solidFill>
              </a:rPr>
              <a:t>Al-Azhar Park (50.2% similarity) | FMR: 100.0%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Quality Assurance &amp; Automated Test Suite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9 Automated Unit Tests Verifying 8 Required Scenarios (100% Pass)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Automated Test Suite (tests/test_recommender.py)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TC-01: </a:t>
            </a:r>
            <a:r>
              <a:rPr>
                <a:solidFill>
                  <a:srgbClr val="94A3B8"/>
                </a:solidFill>
              </a:rPr>
              <a:t>Normal recommendation pipeline (Top 3 sorted by similarity) -&gt; PASS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TC-02: </a:t>
            </a:r>
            <a:r>
              <a:rPr>
                <a:solidFill>
                  <a:srgbClr val="94A3B8"/>
                </a:solidFill>
              </a:rPr>
              <a:t>Low budget + short time constraint enforcement -&gt; PASS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TC-03: </a:t>
            </a:r>
            <a:r>
              <a:rPr>
                <a:solidFill>
                  <a:srgbClr val="94A3B8"/>
                </a:solidFill>
              </a:rPr>
              <a:t>Location filter verification (Giza) -&gt; PASS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TC-04: </a:t>
            </a:r>
            <a:r>
              <a:rPr>
                <a:solidFill>
                  <a:srgbClr val="94A3B8"/>
                </a:solidFill>
              </a:rPr>
              <a:t>Wheelchair accessibility compliance -&gt; PASS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34D399"/>
                </a:solidFill>
              </a:rPr>
              <a:t>• TC-05: </a:t>
            </a:r>
            <a:r>
              <a:rPr>
                <a:solidFill>
                  <a:srgbClr val="94A3B8"/>
                </a:solidFill>
              </a:rPr>
              <a:t>Morning visit period filtering -&gt;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Edge Cases &amp; Baseline Verification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8BDF8"/>
                </a:solidFill>
              </a:rPr>
              <a:t>• TC-06: </a:t>
            </a:r>
            <a:r>
              <a:rPr>
                <a:solidFill>
                  <a:srgbClr val="94A3B8"/>
                </a:solidFill>
              </a:rPr>
              <a:t>No interests selected (Popularity baseline fallback) -&gt; PASS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8BDF8"/>
                </a:solidFill>
              </a:rPr>
              <a:t>• TC-07: </a:t>
            </a:r>
            <a:r>
              <a:rPr>
                <a:solidFill>
                  <a:srgbClr val="94A3B8"/>
                </a:solidFill>
              </a:rPr>
              <a:t>No matching results edge case (Graceful warning banner) -&gt; PASS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8BDF8"/>
                </a:solidFill>
              </a:rPr>
              <a:t>• TC-08: </a:t>
            </a:r>
            <a:r>
              <a:rPr>
                <a:solidFill>
                  <a:srgbClr val="94A3B8"/>
                </a:solidFill>
              </a:rPr>
              <a:t>Different interest tags dynamic scoring -&gt; PASS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8BDF8"/>
                </a:solidFill>
              </a:rPr>
              <a:t>• Metric Verification: </a:t>
            </a:r>
            <a:r>
              <a:rPr>
                <a:solidFill>
                  <a:srgbClr val="94A3B8"/>
                </a:solidFill>
              </a:rPr>
              <a:t>Automated Filter Match Rate (FMR) metric check -&gt;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Future Roadmap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Project Accomplishments &amp; Next-Generation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Key Accomplishments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FFFFFF"/>
                </a:solidFill>
              </a:rPr>
              <a:t>• D4 Requirements Fulfilled: </a:t>
            </a:r>
            <a:r>
              <a:rPr>
                <a:solidFill>
                  <a:srgbClr val="94A3B8"/>
                </a:solidFill>
              </a:rPr>
              <a:t>Integrated CSP hard filtering, TF-IDF Cosine Similarity, baseline model, and Streamlit UI.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FFFFFF"/>
                </a:solidFill>
              </a:rPr>
              <a:t>• 100% Filter Match Rate: </a:t>
            </a:r>
            <a:r>
              <a:rPr>
                <a:solidFill>
                  <a:srgbClr val="94A3B8"/>
                </a:solidFill>
              </a:rPr>
              <a:t>Zero constraint violations across all persona queries.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FFFFFF"/>
                </a:solidFill>
              </a:rPr>
              <a:t>• Modular Architecture: </a:t>
            </a:r>
            <a:r>
              <a:rPr>
                <a:solidFill>
                  <a:srgbClr val="94A3B8"/>
                </a:solidFill>
              </a:rPr>
              <a:t>Clean Python package structure with pre-trained joblib artifacts.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FFFFFF"/>
                </a:solidFill>
              </a:rPr>
              <a:t>• Comprehensive Testing: </a:t>
            </a:r>
            <a:r>
              <a:rPr>
                <a:solidFill>
                  <a:srgbClr val="94A3B8"/>
                </a:solidFill>
              </a:rPr>
              <a:t>Full unittest suite verifying all 8 required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Future Roadmap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4D399"/>
                </a:solidFill>
              </a:rPr>
              <a:t>• Live Map &amp; Route Planning: </a:t>
            </a:r>
            <a:r>
              <a:rPr>
                <a:solidFill>
                  <a:srgbClr val="94A3B8"/>
                </a:solidFill>
              </a:rPr>
              <a:t>Integrate GPS tracking and route optimization for multi-stop tours.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4D399"/>
                </a:solidFill>
              </a:rPr>
              <a:t>• Dynamic API Integration: </a:t>
            </a:r>
            <a:r>
              <a:rPr>
                <a:solidFill>
                  <a:srgbClr val="94A3B8"/>
                </a:solidFill>
              </a:rPr>
              <a:t>Real-time Ministry ticket prices and temporary closure feeds.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4D399"/>
                </a:solidFill>
              </a:rPr>
              <a:t>• Search Algorithm Itineraries: </a:t>
            </a:r>
            <a:r>
              <a:rPr>
                <a:solidFill>
                  <a:srgbClr val="94A3B8"/>
                </a:solidFill>
              </a:rPr>
              <a:t>Apply A* or Genetic Algorithms for optimal multi-day tour planning.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34D399"/>
                </a:solidFill>
              </a:rPr>
              <a:t>• Collaborative Filtering: </a:t>
            </a:r>
            <a:r>
              <a:rPr>
                <a:solidFill>
                  <a:srgbClr val="94A3B8"/>
                </a:solidFill>
              </a:rPr>
              <a:t>Incorporate anonymized visitor rating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1067</Words>
  <Application>Microsoft Office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mohamed abd elghany elsipaay</cp:lastModifiedBy>
  <cp:revision>1</cp:revision>
  <dcterms:created xsi:type="dcterms:W3CDTF">2013-01-27T09:14:16Z</dcterms:created>
  <dcterms:modified xsi:type="dcterms:W3CDTF">2026-08-15T09:36:36Z</dcterms:modified>
  <cp:category/>
</cp:coreProperties>
</file>